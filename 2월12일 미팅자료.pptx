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6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3797B8-4190-0E27-9C16-79413028F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FF7E07-9971-E86A-AF4C-0F66F6A4C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45406E-487C-CBD5-E0E9-4C58B4366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FFB9BA-DC2D-9E01-D50C-14D719994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A81110-8592-5F53-B764-4881FD9C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0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84156-E089-C892-C691-48EEEEBAA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D77146-8284-0F48-A20F-34D5DF5E9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9E730E-7D47-D64A-BFC3-A29A0131A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37E533-D2E1-4A6F-C90E-5F18A4209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2C89B6-BFCF-6DEB-C170-977B199D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466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325ECE-73D0-79C7-0D30-2F6134F6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8C617D-12C2-7ECE-2863-35A46EFC2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A6F5A8-3728-EB5C-FBA5-53D00D440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3346D8-3755-5652-64FB-50E450C8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CCBC87-E3DE-53EC-E632-22086B0E9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44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D0D50-FCFC-50BB-1E02-CC12559A5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F883A1-227B-8E47-E480-2F9A33A2A6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E5319E-3B17-B7B0-730C-00E09E7A6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6CE710-C911-6EC1-7190-675DD2AD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8D528F-6970-8057-15B3-78DA3FBB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DA92FC-F541-748D-EE73-5F27D17E6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19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1D191-415A-6424-25B3-F54ED42B7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0704D3-2647-B82F-AEF3-7652ABC06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E5F194-33F7-1F32-5217-6E73A8744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ADAA7E-9C84-B7C2-837B-A111A473B5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A90628-6F92-CE3A-1F57-C1C96936E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7B34BE-6CAE-CABD-0F19-33A429E77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D98C4AC-6A93-1081-7894-D9F4923A3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857C7D-D0C5-5F09-C873-E72E155FD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7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75F02-1D32-7B27-D2F0-2EE8802EC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9A2977-C423-C63D-7FA8-653D472D7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08F184-2D5C-5352-456E-EC9E2CE26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C45964-0501-8004-5E11-9C568141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13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A2BFB3-505E-8351-D21D-1B30124C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F8C8F4-66CD-CA15-0FF8-C90F17B6E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4324E9-A6AC-FBB9-8CD8-96463F8BA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64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F9123-FCC5-FB14-5273-2F63A9A01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A45E1E-E18F-4221-97C3-3F6D90D75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9FB617-FE4C-0EA9-DDA0-1BA94DFA0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91517F-6734-82A8-6418-F04047033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59E187-9032-B93C-F5CC-07336ACF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3FDBD4-7C3B-B5E4-E4DC-A1C6D47B8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180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5F50F-8183-8844-236B-913673340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0D888A3-6DC5-C52D-BDCD-3D67201AF5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7D0580-3FAC-C6CB-45FF-4A26669DF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0D9C5-FDB6-F3A5-E7A4-0B9A0FD64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2BCDBB-238B-A542-9BE6-9C2717CE8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0820D0-E1A8-C65D-E0C4-6E619126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14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556CC-C11C-4842-A14A-E4FA0F2C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53D89EF-D877-4494-70E6-7D26A085E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1A7266-C9CA-B4A3-B5BA-4577C3078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EE0DD-5127-F9C0-F854-37DFD5FA4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411893-F154-9B33-3733-5BFD15C87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96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B14DAD-D90C-A040-66CB-D1CCB133C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48BE07-B0A8-9385-246D-AA15FBFD0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71C855-9EEF-BF2A-3D96-952CF793D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34758E-04C0-FEE8-8834-4D0A638AB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625187-F798-5A29-2B97-DC9DA876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124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BD0DCD-E45B-7A69-E97B-879D0788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206D29-B80F-24C5-D93D-4EEE94BF6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93E913-9274-FD0A-C1F5-A565FE7B9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5688C5-30DF-4C2A-9FF6-D1781D58A2A5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2B9AA9-1066-AB06-C342-97D38B8CD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A70AF9-B795-97AF-53C3-6FF23D912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024BCE-385C-499E-8357-3BB903B58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202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그룹 85">
            <a:extLst>
              <a:ext uri="{FF2B5EF4-FFF2-40B4-BE49-F238E27FC236}">
                <a16:creationId xmlns:a16="http://schemas.microsoft.com/office/drawing/2014/main" id="{B3C52F5E-9AA1-C97F-7A94-6DB6322DB1CB}"/>
              </a:ext>
            </a:extLst>
          </p:cNvPr>
          <p:cNvGrpSpPr/>
          <p:nvPr/>
        </p:nvGrpSpPr>
        <p:grpSpPr>
          <a:xfrm>
            <a:off x="1347786" y="1664483"/>
            <a:ext cx="2538412" cy="3683077"/>
            <a:chOff x="1347786" y="1664483"/>
            <a:chExt cx="2538412" cy="368307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C6243F0-FB01-EC57-78D8-278FEF5E1D05}"/>
                </a:ext>
              </a:extLst>
            </p:cNvPr>
            <p:cNvSpPr/>
            <p:nvPr/>
          </p:nvSpPr>
          <p:spPr>
            <a:xfrm>
              <a:off x="1347786" y="1664483"/>
              <a:ext cx="2538412" cy="2790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16776CB-E277-9747-287E-842F183790B1}"/>
                </a:ext>
              </a:extLst>
            </p:cNvPr>
            <p:cNvSpPr/>
            <p:nvPr/>
          </p:nvSpPr>
          <p:spPr>
            <a:xfrm>
              <a:off x="1664492" y="4757010"/>
              <a:ext cx="1905000" cy="59055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Channel Embedding</a:t>
              </a:r>
            </a:p>
            <a:p>
              <a:pPr algn="ctr"/>
              <a:r>
                <a:rPr lang="en-US" altLang="ko-KR" sz="1200" dirty="0"/>
                <a:t>+ Positional Embedding</a:t>
              </a:r>
              <a:endParaRPr lang="ko-KR" altLang="en-US" sz="1200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A9B8CBF-3FAF-0C8B-81CB-8B9C0206FE89}"/>
                </a:ext>
              </a:extLst>
            </p:cNvPr>
            <p:cNvSpPr/>
            <p:nvPr/>
          </p:nvSpPr>
          <p:spPr>
            <a:xfrm>
              <a:off x="1901427" y="3671893"/>
              <a:ext cx="1481138" cy="52387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Multi-Head Attention</a:t>
              </a:r>
              <a:endParaRPr lang="ko-KR" altLang="en-US" sz="11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1833548-1D12-E0C7-8361-34A6B470088F}"/>
                </a:ext>
              </a:extLst>
            </p:cNvPr>
            <p:cNvSpPr/>
            <p:nvPr/>
          </p:nvSpPr>
          <p:spPr>
            <a:xfrm>
              <a:off x="2056207" y="3253509"/>
              <a:ext cx="1171575" cy="23336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Add  &amp; Norm</a:t>
              </a:r>
              <a:endParaRPr lang="ko-KR" altLang="en-US" sz="12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DEE00AC-DD1C-6A59-D88B-3E1051E0AC90}"/>
                </a:ext>
              </a:extLst>
            </p:cNvPr>
            <p:cNvSpPr/>
            <p:nvPr/>
          </p:nvSpPr>
          <p:spPr>
            <a:xfrm>
              <a:off x="1876421" y="2608107"/>
              <a:ext cx="1531145" cy="3857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/>
                <a:t>FeedForward</a:t>
              </a:r>
              <a:endParaRPr lang="ko-KR" altLang="en-US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62158B-0836-F772-DF0D-8CF8DD47ED72}"/>
                </a:ext>
              </a:extLst>
            </p:cNvPr>
            <p:cNvSpPr txBox="1"/>
            <p:nvPr/>
          </p:nvSpPr>
          <p:spPr>
            <a:xfrm>
              <a:off x="1690687" y="1787865"/>
              <a:ext cx="1966913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Channel Encoder Layer</a:t>
              </a:r>
              <a:endParaRPr lang="ko-KR" altLang="en-US" sz="1300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C388294-A31C-5D75-AC6C-539080BD4AC0}"/>
                </a:ext>
              </a:extLst>
            </p:cNvPr>
            <p:cNvSpPr/>
            <p:nvPr/>
          </p:nvSpPr>
          <p:spPr>
            <a:xfrm>
              <a:off x="2088355" y="2177682"/>
              <a:ext cx="1171575" cy="23336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Add  &amp; Norm</a:t>
              </a:r>
              <a:endParaRPr lang="ko-KR" altLang="en-US" sz="1200" dirty="0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BA070424-BBE2-79E6-F2B9-8A71CAE99B85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V="1">
              <a:off x="2616992" y="4223402"/>
              <a:ext cx="0" cy="5336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연결선: 꺾임 22">
              <a:extLst>
                <a:ext uri="{FF2B5EF4-FFF2-40B4-BE49-F238E27FC236}">
                  <a16:creationId xmlns:a16="http://schemas.microsoft.com/office/drawing/2014/main" id="{DE5D1FA1-9E69-AB16-938F-F80DFDA3E3E8}"/>
                </a:ext>
              </a:extLst>
            </p:cNvPr>
            <p:cNvCxnSpPr>
              <a:stCxn id="10" idx="2"/>
              <a:endCxn id="7" idx="1"/>
            </p:cNvCxnSpPr>
            <p:nvPr/>
          </p:nvCxnSpPr>
          <p:spPr>
            <a:xfrm rot="5400000" flipH="1">
              <a:off x="1794041" y="3632358"/>
              <a:ext cx="1085117" cy="560785"/>
            </a:xfrm>
            <a:prstGeom prst="bentConnector4">
              <a:avLst>
                <a:gd name="adj1" fmla="val -9217"/>
                <a:gd name="adj2" fmla="val 18556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연결선: 꺾임 40">
              <a:extLst>
                <a:ext uri="{FF2B5EF4-FFF2-40B4-BE49-F238E27FC236}">
                  <a16:creationId xmlns:a16="http://schemas.microsoft.com/office/drawing/2014/main" id="{9EEE6A98-E80D-8EDF-E34C-6CDC4EE2D8C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645106" y="4195287"/>
              <a:ext cx="231906" cy="288133"/>
            </a:xfrm>
            <a:prstGeom prst="bentConnector4">
              <a:avLst>
                <a:gd name="adj1" fmla="val 2054"/>
                <a:gd name="adj2" fmla="val 1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연결선: 꺾임 62">
              <a:extLst>
                <a:ext uri="{FF2B5EF4-FFF2-40B4-BE49-F238E27FC236}">
                  <a16:creationId xmlns:a16="http://schemas.microsoft.com/office/drawing/2014/main" id="{BF8FB97F-DED5-9939-A646-A6E9F4EE841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336599" y="4224051"/>
              <a:ext cx="290519" cy="230603"/>
            </a:xfrm>
            <a:prstGeom prst="bentConnector3">
              <a:avLst>
                <a:gd name="adj1" fmla="val 10081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E18A9547-EF92-9837-C6EA-08B795C76AD3}"/>
                </a:ext>
              </a:extLst>
            </p:cNvPr>
            <p:cNvCxnSpPr/>
            <p:nvPr/>
          </p:nvCxnSpPr>
          <p:spPr>
            <a:xfrm flipV="1">
              <a:off x="2627118" y="3486872"/>
              <a:ext cx="0" cy="18502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85158282-B6E6-6F08-D5F3-04E55D2BE7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4260" y="2993870"/>
              <a:ext cx="0" cy="2510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연결선: 꺾임 77">
              <a:extLst>
                <a:ext uri="{FF2B5EF4-FFF2-40B4-BE49-F238E27FC236}">
                  <a16:creationId xmlns:a16="http://schemas.microsoft.com/office/drawing/2014/main" id="{F1B72850-3CE8-7D0F-CB45-4A2CD62E2104}"/>
                </a:ext>
              </a:extLst>
            </p:cNvPr>
            <p:cNvCxnSpPr>
              <a:endCxn id="13" idx="1"/>
            </p:cNvCxnSpPr>
            <p:nvPr/>
          </p:nvCxnSpPr>
          <p:spPr>
            <a:xfrm rot="16200000" flipV="1">
              <a:off x="1933294" y="2449425"/>
              <a:ext cx="848886" cy="538763"/>
            </a:xfrm>
            <a:prstGeom prst="bentConnector4">
              <a:avLst>
                <a:gd name="adj1" fmla="val 863"/>
                <a:gd name="adj2" fmla="val 19782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C1ED5E1C-1D61-008B-4297-E487114295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6992" y="2438400"/>
              <a:ext cx="0" cy="1786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328D253B-5863-E7E5-77B5-6509EECD7F80}"/>
              </a:ext>
            </a:extLst>
          </p:cNvPr>
          <p:cNvSpPr txBox="1"/>
          <p:nvPr/>
        </p:nvSpPr>
        <p:spPr>
          <a:xfrm>
            <a:off x="708566" y="3252278"/>
            <a:ext cx="8054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err="1"/>
              <a:t>Nx</a:t>
            </a:r>
            <a:endParaRPr lang="ko-KR" altLang="en-US" sz="15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EFB78A7-0013-6E1B-7506-E29D97410F8A}"/>
              </a:ext>
            </a:extLst>
          </p:cNvPr>
          <p:cNvSpPr txBox="1"/>
          <p:nvPr/>
        </p:nvSpPr>
        <p:spPr>
          <a:xfrm>
            <a:off x="7736998" y="3279388"/>
            <a:ext cx="8054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err="1"/>
              <a:t>Nx</a:t>
            </a:r>
            <a:endParaRPr lang="ko-KR" altLang="en-US" sz="1500" dirty="0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EAAEB037-2BD1-3E56-3844-CB04C24D66E9}"/>
              </a:ext>
            </a:extLst>
          </p:cNvPr>
          <p:cNvGrpSpPr/>
          <p:nvPr/>
        </p:nvGrpSpPr>
        <p:grpSpPr>
          <a:xfrm>
            <a:off x="2683024" y="1690362"/>
            <a:ext cx="4986699" cy="3683077"/>
            <a:chOff x="-1100501" y="1664483"/>
            <a:chExt cx="4986699" cy="3683077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C7F62DE0-AD0A-93AD-A104-5F6CD6829878}"/>
                </a:ext>
              </a:extLst>
            </p:cNvPr>
            <p:cNvSpPr/>
            <p:nvPr/>
          </p:nvSpPr>
          <p:spPr>
            <a:xfrm>
              <a:off x="1347786" y="1664483"/>
              <a:ext cx="2538412" cy="2790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EB12F7D4-365C-AE8D-EA18-57E104AF8EC8}"/>
                </a:ext>
              </a:extLst>
            </p:cNvPr>
            <p:cNvSpPr/>
            <p:nvPr/>
          </p:nvSpPr>
          <p:spPr>
            <a:xfrm>
              <a:off x="1664492" y="4757010"/>
              <a:ext cx="1905000" cy="59055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Image Embedding</a:t>
              </a:r>
            </a:p>
            <a:p>
              <a:pPr algn="ctr"/>
              <a:r>
                <a:rPr lang="en-US" altLang="ko-KR" sz="1200" dirty="0"/>
                <a:t>+ Positional Embedding</a:t>
              </a:r>
              <a:endParaRPr lang="ko-KR" altLang="en-US" sz="1200" dirty="0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D06B8F10-C745-D4D8-F091-F8FED89B1EA9}"/>
                </a:ext>
              </a:extLst>
            </p:cNvPr>
            <p:cNvSpPr/>
            <p:nvPr/>
          </p:nvSpPr>
          <p:spPr>
            <a:xfrm>
              <a:off x="1901427" y="3671893"/>
              <a:ext cx="1481138" cy="52387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Multi-Head</a:t>
              </a:r>
            </a:p>
            <a:p>
              <a:pPr algn="ctr"/>
              <a:r>
                <a:rPr lang="en-US" altLang="ko-KR" sz="1100" dirty="0"/>
                <a:t> Cross-Attention</a:t>
              </a:r>
              <a:endParaRPr lang="ko-KR" altLang="en-US" sz="1100" dirty="0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60AE23C1-F941-D2E6-34BD-FC035E5C87B2}"/>
                </a:ext>
              </a:extLst>
            </p:cNvPr>
            <p:cNvSpPr/>
            <p:nvPr/>
          </p:nvSpPr>
          <p:spPr>
            <a:xfrm>
              <a:off x="2056207" y="3253509"/>
              <a:ext cx="1171575" cy="23336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Add  &amp; Norm</a:t>
              </a:r>
              <a:endParaRPr lang="ko-KR" altLang="en-US" sz="1200" dirty="0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449DD941-C911-1410-8403-4977CF7786B3}"/>
                </a:ext>
              </a:extLst>
            </p:cNvPr>
            <p:cNvSpPr/>
            <p:nvPr/>
          </p:nvSpPr>
          <p:spPr>
            <a:xfrm>
              <a:off x="1876421" y="2608107"/>
              <a:ext cx="1531145" cy="385763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/>
                <a:t>FeedForward</a:t>
              </a:r>
              <a:endParaRPr lang="ko-KR" altLang="en-US" sz="12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05CDDC2-CDC2-B8A8-5B81-A98FA17CA488}"/>
                </a:ext>
              </a:extLst>
            </p:cNvPr>
            <p:cNvSpPr txBox="1"/>
            <p:nvPr/>
          </p:nvSpPr>
          <p:spPr>
            <a:xfrm>
              <a:off x="1690687" y="1787865"/>
              <a:ext cx="1966913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Fusion Encoder Layer</a:t>
              </a:r>
              <a:endParaRPr lang="ko-KR" altLang="en-US" sz="1300" dirty="0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C6E3EF21-D6C0-BA4D-5045-9DE2591FD4A9}"/>
                </a:ext>
              </a:extLst>
            </p:cNvPr>
            <p:cNvSpPr/>
            <p:nvPr/>
          </p:nvSpPr>
          <p:spPr>
            <a:xfrm>
              <a:off x="2088355" y="2177682"/>
              <a:ext cx="1171575" cy="23336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Add  &amp; Norm</a:t>
              </a:r>
              <a:endParaRPr lang="ko-KR" altLang="en-US" sz="1200" dirty="0"/>
            </a:p>
          </p:txBody>
        </p:sp>
        <p:cxnSp>
          <p:nvCxnSpPr>
            <p:cNvPr id="96" name="연결선: 꺾임 95">
              <a:extLst>
                <a:ext uri="{FF2B5EF4-FFF2-40B4-BE49-F238E27FC236}">
                  <a16:creationId xmlns:a16="http://schemas.microsoft.com/office/drawing/2014/main" id="{9F451963-0518-7A24-F826-373949376AF6}"/>
                </a:ext>
              </a:extLst>
            </p:cNvPr>
            <p:cNvCxnSpPr>
              <a:cxnSpLocks/>
              <a:stCxn id="13" idx="0"/>
              <a:endCxn id="90" idx="1"/>
            </p:cNvCxnSpPr>
            <p:nvPr/>
          </p:nvCxnSpPr>
          <p:spPr>
            <a:xfrm rot="16200000" flipH="1">
              <a:off x="-490551" y="1541854"/>
              <a:ext cx="1782028" cy="3001927"/>
            </a:xfrm>
            <a:prstGeom prst="bentConnector4">
              <a:avLst>
                <a:gd name="adj1" fmla="val -43886"/>
                <a:gd name="adj2" fmla="val 5975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연결선: 꺾임 96">
              <a:extLst>
                <a:ext uri="{FF2B5EF4-FFF2-40B4-BE49-F238E27FC236}">
                  <a16:creationId xmlns:a16="http://schemas.microsoft.com/office/drawing/2014/main" id="{4D198AB9-B3A6-33B8-41FB-D238E3722E9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645106" y="4195287"/>
              <a:ext cx="231906" cy="288133"/>
            </a:xfrm>
            <a:prstGeom prst="bentConnector4">
              <a:avLst>
                <a:gd name="adj1" fmla="val -5730"/>
                <a:gd name="adj2" fmla="val 1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DD1674AB-728B-60BC-F6D8-1C6853E59A21}"/>
                </a:ext>
              </a:extLst>
            </p:cNvPr>
            <p:cNvCxnSpPr/>
            <p:nvPr/>
          </p:nvCxnSpPr>
          <p:spPr>
            <a:xfrm flipV="1">
              <a:off x="2627118" y="3486872"/>
              <a:ext cx="0" cy="18502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화살표 연결선 99">
              <a:extLst>
                <a:ext uri="{FF2B5EF4-FFF2-40B4-BE49-F238E27FC236}">
                  <a16:creationId xmlns:a16="http://schemas.microsoft.com/office/drawing/2014/main" id="{AA577C48-6CC7-54CE-32AD-AB7E71E8D2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4260" y="2993870"/>
              <a:ext cx="0" cy="2510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연결선: 꺾임 100">
              <a:extLst>
                <a:ext uri="{FF2B5EF4-FFF2-40B4-BE49-F238E27FC236}">
                  <a16:creationId xmlns:a16="http://schemas.microsoft.com/office/drawing/2014/main" id="{DAD783EF-D63A-DDEF-ABFA-29540199057D}"/>
                </a:ext>
              </a:extLst>
            </p:cNvPr>
            <p:cNvCxnSpPr>
              <a:endCxn id="94" idx="1"/>
            </p:cNvCxnSpPr>
            <p:nvPr/>
          </p:nvCxnSpPr>
          <p:spPr>
            <a:xfrm rot="16200000" flipV="1">
              <a:off x="1933294" y="2449425"/>
              <a:ext cx="848886" cy="538763"/>
            </a:xfrm>
            <a:prstGeom prst="bentConnector4">
              <a:avLst>
                <a:gd name="adj1" fmla="val 863"/>
                <a:gd name="adj2" fmla="val 19782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화살표 연결선 101">
              <a:extLst>
                <a:ext uri="{FF2B5EF4-FFF2-40B4-BE49-F238E27FC236}">
                  <a16:creationId xmlns:a16="http://schemas.microsoft.com/office/drawing/2014/main" id="{EB740D9D-5D91-45DF-845D-39964DF00B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6992" y="2438400"/>
              <a:ext cx="0" cy="1786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38D590D3-C242-AA4B-2FEE-14519D21D4EE}"/>
              </a:ext>
            </a:extLst>
          </p:cNvPr>
          <p:cNvCxnSpPr>
            <a:cxnSpLocks/>
            <a:endCxn id="88" idx="2"/>
          </p:cNvCxnSpPr>
          <p:nvPr/>
        </p:nvCxnSpPr>
        <p:spPr>
          <a:xfrm flipV="1">
            <a:off x="6400517" y="4481187"/>
            <a:ext cx="0" cy="3017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926013B2-367E-EC31-DCE2-8C8D9B90D760}"/>
              </a:ext>
            </a:extLst>
          </p:cNvPr>
          <p:cNvCxnSpPr>
            <a:cxnSpLocks/>
          </p:cNvCxnSpPr>
          <p:nvPr/>
        </p:nvCxnSpPr>
        <p:spPr>
          <a:xfrm rot="10800000">
            <a:off x="6141262" y="4260493"/>
            <a:ext cx="290519" cy="230603"/>
          </a:xfrm>
          <a:prstGeom prst="bentConnector3">
            <a:avLst>
              <a:gd name="adj1" fmla="val 10081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B4004509-9A33-1F81-1AB8-1EFD2BA9009F}"/>
              </a:ext>
            </a:extLst>
          </p:cNvPr>
          <p:cNvSpPr txBox="1"/>
          <p:nvPr/>
        </p:nvSpPr>
        <p:spPr>
          <a:xfrm>
            <a:off x="2047327" y="5881345"/>
            <a:ext cx="1335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Input_channel</a:t>
            </a:r>
            <a:endParaRPr lang="ko-KR" altLang="en-US" sz="12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CDE6D65-7D38-7B9E-D5B4-89B219A77D00}"/>
              </a:ext>
            </a:extLst>
          </p:cNvPr>
          <p:cNvSpPr txBox="1"/>
          <p:nvPr/>
        </p:nvSpPr>
        <p:spPr>
          <a:xfrm>
            <a:off x="5964506" y="5881346"/>
            <a:ext cx="1335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Input_img</a:t>
            </a:r>
            <a:endParaRPr lang="ko-KR" altLang="en-US" sz="1200" dirty="0"/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41906878-DFA3-F648-C2E9-3AF672013EC8}"/>
              </a:ext>
            </a:extLst>
          </p:cNvPr>
          <p:cNvCxnSpPr>
            <a:cxnSpLocks/>
          </p:cNvCxnSpPr>
          <p:nvPr/>
        </p:nvCxnSpPr>
        <p:spPr>
          <a:xfrm flipV="1">
            <a:off x="2643818" y="5426242"/>
            <a:ext cx="0" cy="4551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C5EFB82A-8CB9-C28E-6E96-021537EAA821}"/>
              </a:ext>
            </a:extLst>
          </p:cNvPr>
          <p:cNvCxnSpPr>
            <a:cxnSpLocks/>
          </p:cNvCxnSpPr>
          <p:nvPr/>
        </p:nvCxnSpPr>
        <p:spPr>
          <a:xfrm flipV="1">
            <a:off x="6430410" y="5426242"/>
            <a:ext cx="0" cy="4551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22B501A8-F448-BF3D-F604-2E5900B33428}"/>
              </a:ext>
            </a:extLst>
          </p:cNvPr>
          <p:cNvCxnSpPr>
            <a:cxnSpLocks/>
          </p:cNvCxnSpPr>
          <p:nvPr/>
        </p:nvCxnSpPr>
        <p:spPr>
          <a:xfrm flipH="1" flipV="1">
            <a:off x="6400516" y="1317458"/>
            <a:ext cx="4198" cy="8429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B39E4872-5CAF-4904-E33E-4B5D536276F1}"/>
              </a:ext>
            </a:extLst>
          </p:cNvPr>
          <p:cNvSpPr txBox="1"/>
          <p:nvPr/>
        </p:nvSpPr>
        <p:spPr>
          <a:xfrm>
            <a:off x="6050770" y="964848"/>
            <a:ext cx="1335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Output</a:t>
            </a:r>
            <a:endParaRPr lang="ko-KR" altLang="en-US" sz="1200" dirty="0"/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EF4C4034-0229-6993-2944-E5E7DD5C6C06}"/>
              </a:ext>
            </a:extLst>
          </p:cNvPr>
          <p:cNvCxnSpPr>
            <a:cxnSpLocks/>
          </p:cNvCxnSpPr>
          <p:nvPr/>
        </p:nvCxnSpPr>
        <p:spPr>
          <a:xfrm flipV="1">
            <a:off x="4843177" y="3392653"/>
            <a:ext cx="966803" cy="564959"/>
          </a:xfrm>
          <a:prstGeom prst="bentConnector3">
            <a:avLst>
              <a:gd name="adj1" fmla="val -40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22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0A83366-BD60-6A8E-0AAD-E4D79B223D9A}"/>
              </a:ext>
            </a:extLst>
          </p:cNvPr>
          <p:cNvSpPr/>
          <p:nvPr/>
        </p:nvSpPr>
        <p:spPr>
          <a:xfrm>
            <a:off x="0" y="1949108"/>
            <a:ext cx="1309597" cy="46321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Channel </a:t>
            </a:r>
            <a:r>
              <a:rPr lang="en-US" altLang="ko-KR" sz="1200" dirty="0" err="1"/>
              <a:t>Coeffs</a:t>
            </a:r>
            <a:endParaRPr lang="en-US" altLang="ko-KR" sz="1200" dirty="0"/>
          </a:p>
          <a:p>
            <a:pPr algn="ctr"/>
            <a:r>
              <a:rPr lang="en-US" altLang="ko-KR" sz="1200" dirty="0"/>
              <a:t>(1,16,64)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674794-1420-6F48-4426-66EEC903A6F0}"/>
              </a:ext>
            </a:extLst>
          </p:cNvPr>
          <p:cNvSpPr/>
          <p:nvPr/>
        </p:nvSpPr>
        <p:spPr>
          <a:xfrm>
            <a:off x="1892303" y="1305429"/>
            <a:ext cx="1066260" cy="46321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Real: R</a:t>
            </a:r>
          </a:p>
          <a:p>
            <a:pPr algn="ctr"/>
            <a:r>
              <a:rPr lang="en-US" altLang="ko-KR" sz="1200" dirty="0"/>
              <a:t>(1,16,64)</a:t>
            </a:r>
            <a:endParaRPr lang="ko-KR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BFA39BF9-FCFA-8FC4-9F3F-890057404CCB}"/>
                  </a:ext>
                </a:extLst>
              </p:cNvPr>
              <p:cNvSpPr/>
              <p:nvPr/>
            </p:nvSpPr>
            <p:spPr>
              <a:xfrm>
                <a:off x="1911557" y="2582782"/>
                <a:ext cx="1066259" cy="463214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 err="1"/>
                  <a:t>Imag</a:t>
                </a:r>
                <a:r>
                  <a:rPr lang="en-US" altLang="ko-KR" sz="12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altLang="ko-KR" sz="1200" dirty="0"/>
              </a:p>
              <a:p>
                <a:pPr algn="ctr"/>
                <a:r>
                  <a:rPr lang="en-US" altLang="ko-KR" sz="1200" dirty="0"/>
                  <a:t>(1,16,64)</a:t>
                </a:r>
                <a:endParaRPr lang="ko-KR" altLang="en-US" sz="1200" dirty="0"/>
              </a:p>
            </p:txBody>
          </p:sp>
        </mc:Choice>
        <mc:Fallback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BFA39BF9-FCFA-8FC4-9F3F-890057404C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557" y="2582782"/>
                <a:ext cx="1066259" cy="463214"/>
              </a:xfrm>
              <a:prstGeom prst="rect">
                <a:avLst/>
              </a:prstGeom>
              <a:blipFill>
                <a:blip r:embed="rId2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83C1759-829C-F205-4BF0-74BBF3E56FCF}"/>
                  </a:ext>
                </a:extLst>
              </p:cNvPr>
              <p:cNvSpPr/>
              <p:nvPr/>
            </p:nvSpPr>
            <p:spPr>
              <a:xfrm>
                <a:off x="3467982" y="2354182"/>
                <a:ext cx="1542422" cy="920413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 err="1"/>
                  <a:t>MinMaxScaler</a:t>
                </a:r>
                <a:endParaRPr lang="en-US" altLang="ko-KR" sz="1200" dirty="0"/>
              </a:p>
              <a:p>
                <a:pPr algn="ctr"/>
                <a:r>
                  <a:rPr lang="en-US" altLang="ko-KR" sz="1200" dirty="0" err="1"/>
                  <a:t>Imag</a:t>
                </a:r>
                <a:r>
                  <a:rPr lang="en-US" altLang="ko-KR" sz="12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altLang="ko-KR" sz="1200" dirty="0"/>
              </a:p>
              <a:p>
                <a:pPr algn="ctr"/>
                <a:r>
                  <a:rPr lang="en-US" altLang="ko-KR" sz="1200" dirty="0"/>
                  <a:t>(1,16,64)</a:t>
                </a:r>
                <a:endParaRPr lang="ko-KR" altLang="en-US" sz="1200" dirty="0"/>
              </a:p>
            </p:txBody>
          </p:sp>
        </mc:Choice>
        <mc:Fallback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83C1759-829C-F205-4BF0-74BBF3E56F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982" y="2354182"/>
                <a:ext cx="1542422" cy="9204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E0421B31-201E-38AC-ABEB-FC0D2966172B}"/>
              </a:ext>
            </a:extLst>
          </p:cNvPr>
          <p:cNvSpPr/>
          <p:nvPr/>
        </p:nvSpPr>
        <p:spPr>
          <a:xfrm>
            <a:off x="3485051" y="1025196"/>
            <a:ext cx="1542422" cy="92041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MinMaxScaler</a:t>
            </a:r>
            <a:endParaRPr lang="en-US" altLang="ko-KR" sz="1200" dirty="0"/>
          </a:p>
          <a:p>
            <a:pPr algn="ctr"/>
            <a:r>
              <a:rPr lang="en-US" altLang="ko-KR" sz="1200" dirty="0"/>
              <a:t>Real: R</a:t>
            </a:r>
          </a:p>
          <a:p>
            <a:pPr algn="ctr"/>
            <a:r>
              <a:rPr lang="en-US" altLang="ko-KR" sz="1200" dirty="0"/>
              <a:t>(1,16,64)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2B09C54-CBC8-7A99-B001-29FDE416C550}"/>
              </a:ext>
            </a:extLst>
          </p:cNvPr>
          <p:cNvSpPr/>
          <p:nvPr/>
        </p:nvSpPr>
        <p:spPr>
          <a:xfrm>
            <a:off x="6144340" y="1981205"/>
            <a:ext cx="1069310" cy="60157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Concat</a:t>
            </a:r>
            <a:endParaRPr lang="en-US" altLang="ko-KR" sz="1200" dirty="0"/>
          </a:p>
          <a:p>
            <a:pPr algn="ctr"/>
            <a:r>
              <a:rPr lang="en-US" altLang="ko-KR" sz="1200" dirty="0"/>
              <a:t>H</a:t>
            </a:r>
          </a:p>
          <a:p>
            <a:pPr algn="ctr"/>
            <a:r>
              <a:rPr lang="en-US" altLang="ko-KR" sz="1200" dirty="0"/>
              <a:t>(1,16,128)</a:t>
            </a:r>
            <a:endParaRPr lang="ko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830419-E947-51F4-6D1F-3F88882383BB}"/>
              </a:ext>
            </a:extLst>
          </p:cNvPr>
          <p:cNvSpPr/>
          <p:nvPr/>
        </p:nvSpPr>
        <p:spPr>
          <a:xfrm>
            <a:off x="7808938" y="1976187"/>
            <a:ext cx="890337" cy="60157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flatten</a:t>
            </a:r>
          </a:p>
          <a:p>
            <a:pPr algn="ctr"/>
            <a:r>
              <a:rPr lang="en-US" altLang="ko-KR" sz="1200" dirty="0"/>
              <a:t>(2048,)</a:t>
            </a:r>
            <a:endParaRPr lang="ko-KR" altLang="en-US" sz="12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0279237-862A-9F94-A93E-A738E046A700}"/>
              </a:ext>
            </a:extLst>
          </p:cNvPr>
          <p:cNvCxnSpPr>
            <a:cxnSpLocks/>
          </p:cNvCxnSpPr>
          <p:nvPr/>
        </p:nvCxnSpPr>
        <p:spPr>
          <a:xfrm>
            <a:off x="3024535" y="2819404"/>
            <a:ext cx="443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9A91796-D4D7-03D1-9D75-D4FD9C71BA51}"/>
              </a:ext>
            </a:extLst>
          </p:cNvPr>
          <p:cNvCxnSpPr>
            <a:cxnSpLocks/>
          </p:cNvCxnSpPr>
          <p:nvPr/>
        </p:nvCxnSpPr>
        <p:spPr>
          <a:xfrm>
            <a:off x="3024535" y="1537036"/>
            <a:ext cx="4434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B773821-60F1-AC11-8088-9C33164030A8}"/>
              </a:ext>
            </a:extLst>
          </p:cNvPr>
          <p:cNvGrpSpPr/>
          <p:nvPr/>
        </p:nvGrpSpPr>
        <p:grpSpPr>
          <a:xfrm>
            <a:off x="5034430" y="1463334"/>
            <a:ext cx="1062000" cy="1505953"/>
            <a:chOff x="5311428" y="1460847"/>
            <a:chExt cx="1062000" cy="1505953"/>
          </a:xfrm>
        </p:grpSpPr>
        <p:cxnSp>
          <p:nvCxnSpPr>
            <p:cNvPr id="17" name="연결선: 꺾임 16">
              <a:extLst>
                <a:ext uri="{FF2B5EF4-FFF2-40B4-BE49-F238E27FC236}">
                  <a16:creationId xmlns:a16="http://schemas.microsoft.com/office/drawing/2014/main" id="{B95476E1-DE19-918B-DC2D-ABFE4DE6F83C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5334639" y="1460847"/>
              <a:ext cx="1038789" cy="82114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연결선: 꺾임 17">
              <a:extLst>
                <a:ext uri="{FF2B5EF4-FFF2-40B4-BE49-F238E27FC236}">
                  <a16:creationId xmlns:a16="http://schemas.microsoft.com/office/drawing/2014/main" id="{AD23B34D-978D-261F-FCCD-02C2C4804AAF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 flipV="1">
              <a:off x="5311428" y="2281994"/>
              <a:ext cx="1062000" cy="68480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5A5ACD31-2C54-D455-0043-9E8AEC7A7A6A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1309597" y="1537036"/>
            <a:ext cx="582706" cy="64367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FA26C3AC-E890-BB4C-360B-364F559A018E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309597" y="2180715"/>
            <a:ext cx="601960" cy="63367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0588CB9C-F3F3-1B84-5D26-86AD56966A80}"/>
              </a:ext>
            </a:extLst>
          </p:cNvPr>
          <p:cNvCxnSpPr>
            <a:cxnSpLocks/>
          </p:cNvCxnSpPr>
          <p:nvPr/>
        </p:nvCxnSpPr>
        <p:spPr>
          <a:xfrm>
            <a:off x="7261560" y="2276976"/>
            <a:ext cx="531290" cy="50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C69FCAA-B259-7C70-3591-5F18A0EAA1FA}"/>
              </a:ext>
            </a:extLst>
          </p:cNvPr>
          <p:cNvSpPr/>
          <p:nvPr/>
        </p:nvSpPr>
        <p:spPr>
          <a:xfrm>
            <a:off x="9050042" y="1983692"/>
            <a:ext cx="1309597" cy="60157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Stack over</a:t>
            </a:r>
          </a:p>
          <a:p>
            <a:pPr algn="ctr"/>
            <a:r>
              <a:rPr lang="en-US" altLang="ko-KR" sz="1200" dirty="0" err="1"/>
              <a:t>Past_len</a:t>
            </a:r>
            <a:r>
              <a:rPr lang="en-US" altLang="ko-KR" sz="1200" dirty="0"/>
              <a:t>=16</a:t>
            </a:r>
          </a:p>
          <a:p>
            <a:pPr algn="ctr"/>
            <a:r>
              <a:rPr lang="en-US" altLang="ko-KR" sz="1200" dirty="0"/>
              <a:t>(16,2048)</a:t>
            </a:r>
            <a:endParaRPr lang="ko-KR" altLang="en-US" sz="12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7A6D616-6A7F-6B41-FB25-4B994B2920B8}"/>
              </a:ext>
            </a:extLst>
          </p:cNvPr>
          <p:cNvSpPr/>
          <p:nvPr/>
        </p:nvSpPr>
        <p:spPr>
          <a:xfrm>
            <a:off x="10710407" y="1983692"/>
            <a:ext cx="1309597" cy="60157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DataLoader</a:t>
            </a:r>
            <a:endParaRPr lang="en-US" altLang="ko-KR" sz="1200" dirty="0"/>
          </a:p>
          <a:p>
            <a:pPr algn="ctr"/>
            <a:r>
              <a:rPr lang="en-US" altLang="ko-KR" sz="1200" dirty="0"/>
              <a:t>(B,16,2048)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885EF26D-840F-7D14-7F74-A1E8AD156919}"/>
              </a:ext>
            </a:extLst>
          </p:cNvPr>
          <p:cNvCxnSpPr>
            <a:cxnSpLocks/>
          </p:cNvCxnSpPr>
          <p:nvPr/>
        </p:nvCxnSpPr>
        <p:spPr>
          <a:xfrm>
            <a:off x="8715221" y="2300035"/>
            <a:ext cx="3348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A86FF0FD-9417-D0C7-A516-A96A47416699}"/>
              </a:ext>
            </a:extLst>
          </p:cNvPr>
          <p:cNvCxnSpPr>
            <a:cxnSpLocks/>
          </p:cNvCxnSpPr>
          <p:nvPr/>
        </p:nvCxnSpPr>
        <p:spPr>
          <a:xfrm>
            <a:off x="10359639" y="2300035"/>
            <a:ext cx="3163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785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083D776-9F75-002E-ECD8-45D05CF143CC}"/>
              </a:ext>
            </a:extLst>
          </p:cNvPr>
          <p:cNvSpPr/>
          <p:nvPr/>
        </p:nvSpPr>
        <p:spPr>
          <a:xfrm>
            <a:off x="1344531" y="1503950"/>
            <a:ext cx="8373979" cy="244842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14B7A4B-3866-FDE8-11FF-3BEA60850343}"/>
              </a:ext>
            </a:extLst>
          </p:cNvPr>
          <p:cNvSpPr/>
          <p:nvPr/>
        </p:nvSpPr>
        <p:spPr>
          <a:xfrm>
            <a:off x="4919917" y="463209"/>
            <a:ext cx="1010652" cy="60157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Raw Image</a:t>
            </a:r>
            <a:endParaRPr lang="ko-KR" altLang="en-US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012753-5EAE-CC9E-982F-4E388F43D176}"/>
              </a:ext>
            </a:extLst>
          </p:cNvPr>
          <p:cNvSpPr/>
          <p:nvPr/>
        </p:nvSpPr>
        <p:spPr>
          <a:xfrm>
            <a:off x="2284999" y="2176208"/>
            <a:ext cx="1592178" cy="131144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Load RGB &amp; To Tensor Scale(0,1)</a:t>
            </a:r>
          </a:p>
          <a:p>
            <a:pPr algn="ctr"/>
            <a:r>
              <a:rPr lang="en-US" altLang="ko-KR" sz="1200" dirty="0"/>
              <a:t>(3,H,W)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59114E-0395-9D35-5258-5808130B5877}"/>
              </a:ext>
            </a:extLst>
          </p:cNvPr>
          <p:cNvSpPr/>
          <p:nvPr/>
        </p:nvSpPr>
        <p:spPr>
          <a:xfrm>
            <a:off x="4766512" y="2267950"/>
            <a:ext cx="1433764" cy="120315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Resize to (224,224)</a:t>
            </a:r>
          </a:p>
          <a:p>
            <a:pPr algn="ctr"/>
            <a:r>
              <a:rPr lang="en-US" altLang="ko-KR" sz="1200" dirty="0"/>
              <a:t>(bilinear)</a:t>
            </a:r>
          </a:p>
          <a:p>
            <a:pPr algn="ctr"/>
            <a:r>
              <a:rPr lang="en-US" altLang="ko-KR" sz="1200" dirty="0"/>
              <a:t>(3,224,224)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6394B7-99F2-DEFF-F3B7-301B2F040DBE}"/>
              </a:ext>
            </a:extLst>
          </p:cNvPr>
          <p:cNvSpPr/>
          <p:nvPr/>
        </p:nvSpPr>
        <p:spPr>
          <a:xfrm>
            <a:off x="6710116" y="2367209"/>
            <a:ext cx="2450428" cy="100463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ImageNet Normalization</a:t>
            </a:r>
          </a:p>
          <a:p>
            <a:pPr algn="ctr"/>
            <a:r>
              <a:rPr lang="en-US" altLang="ko-KR" sz="1200" dirty="0"/>
              <a:t>(mean/std)</a:t>
            </a:r>
          </a:p>
          <a:p>
            <a:pPr algn="ctr"/>
            <a:r>
              <a:rPr lang="en-US" altLang="ko-KR" sz="1200" dirty="0"/>
              <a:t>(3,224,224)</a:t>
            </a:r>
            <a:endParaRPr lang="ko-KR" altLang="en-US" sz="12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57736B-171B-5756-944C-812D3E86BDC8}"/>
              </a:ext>
            </a:extLst>
          </p:cNvPr>
          <p:cNvSpPr/>
          <p:nvPr/>
        </p:nvSpPr>
        <p:spPr>
          <a:xfrm>
            <a:off x="4811632" y="5672910"/>
            <a:ext cx="1433764" cy="72790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DataLoader</a:t>
            </a:r>
            <a:endParaRPr lang="en-US" altLang="ko-KR" sz="1200" dirty="0"/>
          </a:p>
          <a:p>
            <a:pPr algn="ctr"/>
            <a:r>
              <a:rPr lang="en-US" altLang="ko-KR" sz="1200" dirty="0"/>
              <a:t>(B,16,3,224,224)</a:t>
            </a:r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18523E-7DCE-643E-87D7-17F6FFC68A3B}"/>
              </a:ext>
            </a:extLst>
          </p:cNvPr>
          <p:cNvSpPr/>
          <p:nvPr/>
        </p:nvSpPr>
        <p:spPr>
          <a:xfrm>
            <a:off x="4814638" y="4430645"/>
            <a:ext cx="1433764" cy="72790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Stack frames</a:t>
            </a:r>
          </a:p>
          <a:p>
            <a:pPr algn="ctr"/>
            <a:r>
              <a:rPr lang="en-US" altLang="ko-KR" sz="1200" dirty="0" err="1"/>
              <a:t>Past_len</a:t>
            </a:r>
            <a:r>
              <a:rPr lang="en-US" altLang="ko-KR" sz="1200" dirty="0"/>
              <a:t>=16</a:t>
            </a:r>
          </a:p>
          <a:p>
            <a:pPr algn="ctr"/>
            <a:r>
              <a:rPr lang="en-US" altLang="ko-KR" sz="1200" dirty="0"/>
              <a:t>(16,3,224,224)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A75B82-1855-8300-B07D-5C244A952CBC}"/>
              </a:ext>
            </a:extLst>
          </p:cNvPr>
          <p:cNvSpPr txBox="1"/>
          <p:nvPr/>
        </p:nvSpPr>
        <p:spPr>
          <a:xfrm>
            <a:off x="4618624" y="1591810"/>
            <a:ext cx="172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PreProcessing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A687250-AC0B-B4CC-E708-BF243893D372}"/>
              </a:ext>
            </a:extLst>
          </p:cNvPr>
          <p:cNvCxnSpPr>
            <a:stCxn id="4" idx="2"/>
          </p:cNvCxnSpPr>
          <p:nvPr/>
        </p:nvCxnSpPr>
        <p:spPr>
          <a:xfrm>
            <a:off x="5425243" y="1064788"/>
            <a:ext cx="7016" cy="4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01E3656-8A62-6545-D18C-5DB505A99D99}"/>
              </a:ext>
            </a:extLst>
          </p:cNvPr>
          <p:cNvCxnSpPr/>
          <p:nvPr/>
        </p:nvCxnSpPr>
        <p:spPr>
          <a:xfrm>
            <a:off x="5521498" y="3952388"/>
            <a:ext cx="7016" cy="4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AFE018C-C5BB-B89E-67F9-89394F604FED}"/>
              </a:ext>
            </a:extLst>
          </p:cNvPr>
          <p:cNvCxnSpPr/>
          <p:nvPr/>
        </p:nvCxnSpPr>
        <p:spPr>
          <a:xfrm>
            <a:off x="5528514" y="5158551"/>
            <a:ext cx="7016" cy="41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694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BC18177-2CB2-9D28-5B3F-CCDFFED6D1DE}"/>
              </a:ext>
            </a:extLst>
          </p:cNvPr>
          <p:cNvSpPr/>
          <p:nvPr/>
        </p:nvSpPr>
        <p:spPr>
          <a:xfrm>
            <a:off x="434137" y="1888957"/>
            <a:ext cx="1281363" cy="5895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Channel input</a:t>
            </a:r>
          </a:p>
          <a:p>
            <a:pPr algn="ctr"/>
            <a:r>
              <a:rPr lang="en-US" altLang="ko-KR" sz="1200" dirty="0"/>
              <a:t>(</a:t>
            </a:r>
            <a:r>
              <a:rPr lang="en-US" altLang="ko-KR" sz="1200" dirty="0" err="1"/>
              <a:t>B,T,F_in</a:t>
            </a:r>
            <a:r>
              <a:rPr lang="en-US" altLang="ko-KR" sz="1200" dirty="0"/>
              <a:t>)</a:t>
            </a:r>
          </a:p>
          <a:p>
            <a:pPr algn="ctr"/>
            <a:r>
              <a:rPr lang="en-US" altLang="ko-KR" sz="1200" dirty="0"/>
              <a:t>(B,16,2048)</a:t>
            </a:r>
            <a:endParaRPr lang="ko-KR" altLang="en-US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93F0C9-4ADF-DD27-2E2B-62BA501130FE}"/>
              </a:ext>
            </a:extLst>
          </p:cNvPr>
          <p:cNvSpPr/>
          <p:nvPr/>
        </p:nvSpPr>
        <p:spPr>
          <a:xfrm>
            <a:off x="434136" y="3836068"/>
            <a:ext cx="1281363" cy="5895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Image input</a:t>
            </a:r>
          </a:p>
          <a:p>
            <a:pPr algn="ctr"/>
            <a:r>
              <a:rPr lang="en-US" altLang="ko-KR" sz="1200" dirty="0"/>
              <a:t>(B,T,3,224,224)</a:t>
            </a:r>
            <a:endParaRPr lang="ko-KR" altLang="en-US" sz="12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B45B00C-FE05-D9FE-39E3-A85B3141A051}"/>
              </a:ext>
            </a:extLst>
          </p:cNvPr>
          <p:cNvGrpSpPr/>
          <p:nvPr/>
        </p:nvGrpSpPr>
        <p:grpSpPr>
          <a:xfrm>
            <a:off x="2278980" y="1023186"/>
            <a:ext cx="1637297" cy="2252912"/>
            <a:chOff x="4255167" y="1239252"/>
            <a:chExt cx="1509964" cy="3037973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215394D-51F4-B870-CFE7-AB1CC343B1FC}"/>
                </a:ext>
              </a:extLst>
            </p:cNvPr>
            <p:cNvSpPr/>
            <p:nvPr/>
          </p:nvSpPr>
          <p:spPr>
            <a:xfrm>
              <a:off x="4255167" y="1239252"/>
              <a:ext cx="1509963" cy="303797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dirty="0"/>
            </a:p>
            <a:p>
              <a:pPr algn="ctr"/>
              <a:endParaRPr lang="en-US" altLang="ko-KR" sz="1200" dirty="0"/>
            </a:p>
            <a:p>
              <a:pPr algn="ctr"/>
              <a:endParaRPr lang="en-US" altLang="ko-KR" sz="1200" dirty="0"/>
            </a:p>
            <a:p>
              <a:pPr algn="ctr"/>
              <a:r>
                <a:rPr lang="en-US" altLang="ko-KR" sz="1200" dirty="0"/>
                <a:t>Linear(F</a:t>
              </a:r>
              <a:r>
                <a:rPr lang="en-US" altLang="ko-KR" sz="1000" dirty="0"/>
                <a:t>in,</a:t>
              </a:r>
              <a:r>
                <a:rPr lang="en-US" altLang="ko-KR" sz="1200" dirty="0"/>
                <a:t>512)</a:t>
              </a:r>
            </a:p>
            <a:p>
              <a:pPr algn="ctr"/>
              <a:r>
                <a:rPr lang="en-US" altLang="ko-KR" sz="1200" dirty="0"/>
                <a:t>GELU</a:t>
              </a:r>
            </a:p>
            <a:p>
              <a:pPr algn="ctr"/>
              <a:r>
                <a:rPr lang="en-US" altLang="ko-KR" sz="1200" dirty="0"/>
                <a:t>Linear(512,128)</a:t>
              </a:r>
            </a:p>
            <a:p>
              <a:pPr algn="ctr"/>
              <a:r>
                <a:rPr lang="en-US" altLang="ko-KR" sz="1200" dirty="0"/>
                <a:t>GELU</a:t>
              </a:r>
            </a:p>
            <a:p>
              <a:pPr algn="ctr"/>
              <a:r>
                <a:rPr lang="en-US" altLang="ko-KR" sz="1200" dirty="0"/>
                <a:t>Linear(128,</a:t>
              </a:r>
            </a:p>
            <a:p>
              <a:pPr algn="ctr"/>
              <a:r>
                <a:rPr lang="en-US" altLang="ko-KR" sz="1200" dirty="0"/>
                <a:t>ELEMENT_LENGTH)</a:t>
              </a:r>
            </a:p>
            <a:p>
              <a:pPr algn="ctr"/>
              <a:endParaRPr lang="en-US" altLang="ko-KR" sz="10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3D84A3B-B188-A237-FA81-3DA9E3D82C66}"/>
                </a:ext>
              </a:extLst>
            </p:cNvPr>
            <p:cNvSpPr/>
            <p:nvPr/>
          </p:nvSpPr>
          <p:spPr>
            <a:xfrm>
              <a:off x="4255169" y="1239252"/>
              <a:ext cx="1509962" cy="65572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INPUT_PROJECTION</a:t>
              </a:r>
              <a:endParaRPr lang="ko-KR" altLang="en-US" sz="1200" dirty="0"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9C40B4-EB03-7CA2-7216-B9565AF09F13}"/>
              </a:ext>
            </a:extLst>
          </p:cNvPr>
          <p:cNvSpPr/>
          <p:nvPr/>
        </p:nvSpPr>
        <p:spPr>
          <a:xfrm>
            <a:off x="4614111" y="1135980"/>
            <a:ext cx="1762626" cy="3381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Backbone</a:t>
            </a:r>
          </a:p>
          <a:p>
            <a:pPr algn="ctr"/>
            <a:r>
              <a:rPr lang="en-US" altLang="ko-KR" sz="1200" dirty="0"/>
              <a:t>(MULTI_MODAL_LWM)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9FD3921-0238-AD8D-4EFC-8BC5A662D0D7}"/>
              </a:ext>
            </a:extLst>
          </p:cNvPr>
          <p:cNvSpPr/>
          <p:nvPr/>
        </p:nvSpPr>
        <p:spPr>
          <a:xfrm>
            <a:off x="6845718" y="2254919"/>
            <a:ext cx="1010653" cy="67978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Pooling</a:t>
            </a:r>
          </a:p>
          <a:p>
            <a:pPr algn="ctr"/>
            <a:r>
              <a:rPr lang="en-US" altLang="ko-KR" sz="1200" dirty="0"/>
              <a:t>(pool=last)</a:t>
            </a:r>
            <a:endParaRPr lang="ko-KR" altLang="en-US" sz="120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078F674-43B1-4884-0753-AF71DE42FCD1}"/>
              </a:ext>
            </a:extLst>
          </p:cNvPr>
          <p:cNvGrpSpPr/>
          <p:nvPr/>
        </p:nvGrpSpPr>
        <p:grpSpPr>
          <a:xfrm>
            <a:off x="8334250" y="2100513"/>
            <a:ext cx="1718513" cy="988595"/>
            <a:chOff x="8069177" y="4646195"/>
            <a:chExt cx="1718513" cy="98859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6EEA00D-A412-22DF-6A26-700C9E1E4776}"/>
                </a:ext>
              </a:extLst>
            </p:cNvPr>
            <p:cNvSpPr/>
            <p:nvPr/>
          </p:nvSpPr>
          <p:spPr>
            <a:xfrm>
              <a:off x="8069178" y="4646195"/>
              <a:ext cx="1718512" cy="98859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200" dirty="0"/>
            </a:p>
            <a:p>
              <a:pPr algn="ctr"/>
              <a:endParaRPr lang="en-US" altLang="ko-KR" sz="1200" dirty="0"/>
            </a:p>
            <a:p>
              <a:pPr algn="ctr"/>
              <a:r>
                <a:rPr lang="en-US" altLang="ko-KR" sz="1200" dirty="0"/>
                <a:t>Linear(</a:t>
              </a:r>
              <a:r>
                <a:rPr lang="en-US" altLang="ko-KR" sz="1200" dirty="0" err="1"/>
                <a:t>D</a:t>
              </a:r>
              <a:r>
                <a:rPr lang="en-US" altLang="ko-KR" sz="1000" dirty="0" err="1"/>
                <a:t>model</a:t>
              </a:r>
              <a:r>
                <a:rPr lang="en-US" altLang="ko-KR" dirty="0" err="1"/>
                <a:t>,</a:t>
              </a:r>
              <a:r>
                <a:rPr lang="en-US" altLang="ko-KR" sz="1200" dirty="0" err="1"/>
                <a:t>F</a:t>
              </a:r>
              <a:r>
                <a:rPr lang="en-US" altLang="ko-KR" sz="1000" dirty="0" err="1"/>
                <a:t>out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DBCE92F-9583-1286-DCCB-2A2BBC92FA18}"/>
                </a:ext>
              </a:extLst>
            </p:cNvPr>
            <p:cNvSpPr/>
            <p:nvPr/>
          </p:nvSpPr>
          <p:spPr>
            <a:xfrm>
              <a:off x="8069177" y="4646195"/>
              <a:ext cx="1718511" cy="366964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Output Head</a:t>
              </a:r>
              <a:endParaRPr lang="ko-KR" altLang="en-US" sz="1200" dirty="0"/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B6D653-31C0-13CA-1AD1-B7876A9E7E3A}"/>
              </a:ext>
            </a:extLst>
          </p:cNvPr>
          <p:cNvSpPr/>
          <p:nvPr/>
        </p:nvSpPr>
        <p:spPr>
          <a:xfrm>
            <a:off x="10530642" y="2333124"/>
            <a:ext cx="1401679" cy="60157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Output</a:t>
            </a:r>
          </a:p>
          <a:p>
            <a:pPr algn="ctr"/>
            <a:r>
              <a:rPr lang="en-US" altLang="ko-KR" sz="1200" dirty="0"/>
              <a:t>(</a:t>
            </a:r>
            <a:r>
              <a:rPr lang="en-US" altLang="ko-KR" sz="1200" dirty="0" err="1"/>
              <a:t>y</a:t>
            </a:r>
            <a:r>
              <a:rPr lang="en-US" altLang="ko-KR" sz="1000" dirty="0" err="1"/>
              <a:t>hat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8BD8E72-CE3D-4963-7074-399179532756}"/>
              </a:ext>
            </a:extLst>
          </p:cNvPr>
          <p:cNvCxnSpPr>
            <a:cxnSpLocks/>
          </p:cNvCxnSpPr>
          <p:nvPr/>
        </p:nvCxnSpPr>
        <p:spPr>
          <a:xfrm>
            <a:off x="1796718" y="4130842"/>
            <a:ext cx="2697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1CA2B32-24E9-33EF-F6F7-92CFE2A281D9}"/>
              </a:ext>
            </a:extLst>
          </p:cNvPr>
          <p:cNvCxnSpPr/>
          <p:nvPr/>
        </p:nvCxnSpPr>
        <p:spPr>
          <a:xfrm>
            <a:off x="1715499" y="2195261"/>
            <a:ext cx="4822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0AD67B7-5593-6AB3-E5DC-2C6BE33DA4FB}"/>
              </a:ext>
            </a:extLst>
          </p:cNvPr>
          <p:cNvCxnSpPr>
            <a:cxnSpLocks/>
          </p:cNvCxnSpPr>
          <p:nvPr/>
        </p:nvCxnSpPr>
        <p:spPr>
          <a:xfrm>
            <a:off x="3916276" y="2070935"/>
            <a:ext cx="5775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79CD962-499F-4994-B296-EA11204649AE}"/>
              </a:ext>
            </a:extLst>
          </p:cNvPr>
          <p:cNvSpPr txBox="1"/>
          <p:nvPr/>
        </p:nvSpPr>
        <p:spPr>
          <a:xfrm>
            <a:off x="2153650" y="3463451"/>
            <a:ext cx="1762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(B,T,ELEMENT_LENGTH)</a:t>
            </a:r>
            <a:endParaRPr lang="ko-KR" altLang="en-US" sz="1200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5E24BB1-0C58-BBFB-1FC6-0A300FE68528}"/>
              </a:ext>
            </a:extLst>
          </p:cNvPr>
          <p:cNvCxnSpPr>
            <a:cxnSpLocks/>
          </p:cNvCxnSpPr>
          <p:nvPr/>
        </p:nvCxnSpPr>
        <p:spPr>
          <a:xfrm>
            <a:off x="6376737" y="2621883"/>
            <a:ext cx="4030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51DA318-6ED4-7A3F-F0AE-352291068A9B}"/>
              </a:ext>
            </a:extLst>
          </p:cNvPr>
          <p:cNvCxnSpPr>
            <a:cxnSpLocks/>
          </p:cNvCxnSpPr>
          <p:nvPr/>
        </p:nvCxnSpPr>
        <p:spPr>
          <a:xfrm>
            <a:off x="7856371" y="2621883"/>
            <a:ext cx="4030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A607765-2BE0-692A-BF8E-6B88B8AE0324}"/>
              </a:ext>
            </a:extLst>
          </p:cNvPr>
          <p:cNvCxnSpPr>
            <a:cxnSpLocks/>
          </p:cNvCxnSpPr>
          <p:nvPr/>
        </p:nvCxnSpPr>
        <p:spPr>
          <a:xfrm>
            <a:off x="10052761" y="2621883"/>
            <a:ext cx="4030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88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2627</TotalTime>
  <Words>239</Words>
  <Application>Microsoft Office PowerPoint</Application>
  <PresentationFormat>와이드스크린</PresentationFormat>
  <Paragraphs>83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Hoyun</dc:creator>
  <cp:lastModifiedBy>Hoyun</cp:lastModifiedBy>
  <cp:revision>3</cp:revision>
  <dcterms:created xsi:type="dcterms:W3CDTF">2026-02-10T07:25:13Z</dcterms:created>
  <dcterms:modified xsi:type="dcterms:W3CDTF">2026-02-12T03:13:08Z</dcterms:modified>
</cp:coreProperties>
</file>